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
  </p:notesMasterIdLst>
  <p:sldIdLst>
    <p:sldId id="256" r:id="rId2"/>
    <p:sldId id="257" r:id="rId3"/>
    <p:sldId id="264" r:id="rId4"/>
    <p:sldId id="269" r:id="rId5"/>
    <p:sldId id="259" r:id="rId6"/>
    <p:sldId id="266" r:id="rId7"/>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255" y="8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2EB46A-26D9-4B79-A0BA-94F0685D32D0}" type="datetimeFigureOut">
              <a:rPr lang="en-US" smtClean="0"/>
              <a:t>9/19/2026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0B1D7-2D89-41AD-A35D-8CABD3C8F5C7}" type="slidenum">
              <a:rPr lang="en-US" smtClean="0"/>
              <a:t>‹#›</a:t>
            </a:fld>
            <a:endParaRPr lang="en-US"/>
          </a:p>
        </p:txBody>
      </p:sp>
    </p:spTree>
    <p:extLst>
      <p:ext uri="{BB962C8B-B14F-4D97-AF65-F5344CB8AC3E}">
        <p14:creationId xmlns:p14="http://schemas.microsoft.com/office/powerpoint/2010/main" val="1948375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E520A89-1EA5-4B48-949C-8D49FA71E17A}" type="datetime1">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A0E909-4676-4DFF-ACF3-65FD721A0C35}" type="datetime1">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A0D50A7-FC51-45F0-ACE8-52BE692F1158}" type="datetime1">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166EF69A-9B98-48A6-8714-D502F21C59AC}" type="datetime1">
              <a:rPr lang="en-US" smtClean="0"/>
              <a:t>9/19/2026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F68901D-AE11-453B-BAB5-EBEBF3FD6D52}" type="datetime1">
              <a:rPr lang="en-US" smtClean="0"/>
              <a:t>9/19/2026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C6EFD338-D2AE-4808-B786-CD8FFD22129C}" type="datetime1">
              <a:rPr lang="en-US" smtClean="0"/>
              <a:t>9/19/2026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9C5FCE24-E184-4609-AA44-1D31475DE58F}" type="datetime1">
              <a:rPr lang="en-US" smtClean="0"/>
              <a:t>9/19/2026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D2F83FF-62C9-4D61-84C4-3D92576553DA}" type="datetime1">
              <a:rPr lang="en-US" smtClean="0"/>
              <a:t>9/19/2026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C872C22-043C-453D-BC8F-50D3C2C8D791}" type="datetime1">
              <a:rPr lang="en-US" smtClean="0"/>
              <a:t>9/19/2026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0F6FA3-7D56-4F82-BC8C-4558DAB8F5A1}" type="datetime1">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966328A-B452-492B-B140-676AC5719AC5}" type="datetime1">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2448" y="652145"/>
            <a:ext cx="9163372" cy="2316480"/>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Operating system and system programming (25CS2104E)</a:t>
            </a:r>
            <a:br>
              <a:rPr lang="en-US" sz="4000" b="1" dirty="0">
                <a:solidFill>
                  <a:srgbClr val="C00000"/>
                </a:solidFill>
                <a:latin typeface="+mn-lt"/>
              </a:rPr>
            </a:br>
            <a:br>
              <a:rPr lang="en-US" sz="4000" b="1" dirty="0">
                <a:solidFill>
                  <a:srgbClr val="C00000"/>
                </a:solidFill>
                <a:latin typeface="+mn-lt"/>
              </a:rPr>
            </a:br>
            <a:r>
              <a:rPr lang="en-IN" sz="3200" b="1" dirty="0">
                <a:solidFill>
                  <a:srgbClr val="C00000"/>
                </a:solidFill>
                <a:effectLst/>
                <a:latin typeface="Arial" panose="020B0604020202020204" pitchFamily="34" charset="0"/>
                <a:ea typeface="Calibri Light" panose="020F0302020204030204" pitchFamily="34" charset="0"/>
                <a:cs typeface="Arial" panose="020B0604020202020204" pitchFamily="34" charset="0"/>
              </a:rPr>
              <a:t>Kernel Monitor</a:t>
            </a:r>
            <a:endParaRPr lang="en-US" sz="3200" b="1" dirty="0">
              <a:solidFill>
                <a:srgbClr val="C00000"/>
              </a:solidFill>
              <a:latin typeface="+mn-lt"/>
            </a:endParaRPr>
          </a:p>
        </p:txBody>
      </p:sp>
      <p:sp>
        <p:nvSpPr>
          <p:cNvPr id="3" name="Subtitle 2"/>
          <p:cNvSpPr>
            <a:spLocks noGrp="1"/>
          </p:cNvSpPr>
          <p:nvPr>
            <p:ph type="subTitle" idx="1"/>
          </p:nvPr>
        </p:nvSpPr>
        <p:spPr>
          <a:xfrm>
            <a:off x="6640015" y="4846321"/>
            <a:ext cx="5384800" cy="1913890"/>
          </a:xfrm>
        </p:spPr>
        <p:txBody>
          <a:bodyPr/>
          <a:lstStyle/>
          <a:p>
            <a:r>
              <a:rPr lang="en-US" dirty="0">
                <a:solidFill>
                  <a:srgbClr val="002060"/>
                </a:solidFill>
              </a:rPr>
              <a:t>Team Members:</a:t>
            </a:r>
          </a:p>
          <a:p>
            <a:r>
              <a:rPr lang="en-US" dirty="0">
                <a:solidFill>
                  <a:srgbClr val="002060"/>
                </a:solidFill>
              </a:rPr>
              <a:t>K.P.S Pranav     252008031</a:t>
            </a:r>
          </a:p>
          <a:p>
            <a:r>
              <a:rPr lang="en-US" dirty="0">
                <a:solidFill>
                  <a:srgbClr val="002060"/>
                </a:solidFill>
                <a:effectLst/>
                <a:latin typeface="Times New Roman" panose="02020603050405020304" pitchFamily="18" charset="0"/>
                <a:ea typeface="MS Mincho" panose="02020609040205080304" pitchFamily="49" charset="-128"/>
              </a:rPr>
              <a:t>K. Chaitanya Ram  2520090106</a:t>
            </a:r>
          </a:p>
          <a:p>
            <a:r>
              <a:rPr lang="en-US" dirty="0">
                <a:solidFill>
                  <a:srgbClr val="002060"/>
                </a:solidFill>
                <a:effectLst/>
                <a:latin typeface="Times New Roman" panose="02020603050405020304" pitchFamily="18" charset="0"/>
                <a:ea typeface="MS Mincho" panose="02020609040205080304" pitchFamily="49" charset="-128"/>
              </a:rPr>
              <a:t>B. Vasudeva  2520090136</a:t>
            </a:r>
            <a:endParaRPr lang="en-US" dirty="0">
              <a:solidFill>
                <a:srgbClr val="002060"/>
              </a:solidFill>
            </a:endParaRPr>
          </a:p>
          <a:p>
            <a:endParaRPr lang="en-US" b="1" dirty="0">
              <a:solidFill>
                <a:schemeClr val="tx1"/>
              </a:solidFill>
            </a:endParaRPr>
          </a:p>
        </p:txBody>
      </p:sp>
      <p:sp>
        <p:nvSpPr>
          <p:cNvPr id="5" name="TextBox 4">
            <a:extLst>
              <a:ext uri="{FF2B5EF4-FFF2-40B4-BE49-F238E27FC236}">
                <a16:creationId xmlns:a16="http://schemas.microsoft.com/office/drawing/2014/main" id="{D2F78912-86E2-3DFA-A0B9-1E6CB3A9493D}"/>
              </a:ext>
            </a:extLst>
          </p:cNvPr>
          <p:cNvSpPr txBox="1"/>
          <p:nvPr/>
        </p:nvSpPr>
        <p:spPr>
          <a:xfrm>
            <a:off x="167185" y="4846321"/>
            <a:ext cx="4391167" cy="1508105"/>
          </a:xfrm>
          <a:prstGeom prst="rect">
            <a:avLst/>
          </a:prstGeom>
          <a:noFill/>
        </p:spPr>
        <p:txBody>
          <a:bodyPr wrap="square">
            <a:spAutoFit/>
          </a:bodyPr>
          <a:lstStyle/>
          <a:p>
            <a:pPr algn="ctr"/>
            <a:r>
              <a:rPr lang="en-US" sz="24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2400" kern="100" dirty="0">
              <a:latin typeface="Calibri" panose="020F0502020204030204" pitchFamily="34" charset="0"/>
              <a:ea typeface="Calibri" panose="020F0502020204030204" pitchFamily="34" charset="0"/>
              <a:cs typeface="Gautami" panose="020B0502040204020203" pitchFamily="34" charset="0"/>
            </a:endParaRPr>
          </a:p>
          <a:p>
            <a:pPr algn="ctr"/>
            <a:endParaRPr lang="en-US" sz="2200" b="1" dirty="0">
              <a:solidFill>
                <a:schemeClr val="tx1"/>
              </a:solidFill>
            </a:endParaRPr>
          </a:p>
          <a:p>
            <a:pPr algn="ctr"/>
            <a:r>
              <a:rPr lang="en-US" sz="2200" b="1" dirty="0">
                <a:solidFill>
                  <a:schemeClr val="tx1"/>
                </a:solidFill>
              </a:rPr>
              <a:t>Raghupathi M</a:t>
            </a:r>
          </a:p>
          <a:p>
            <a:pPr algn="ctr"/>
            <a:r>
              <a:rPr lang="en-US" sz="2400" b="1" dirty="0">
                <a:solidFill>
                  <a:schemeClr val="tx1"/>
                </a:solidFill>
              </a:rPr>
              <a:t>CSE Department</a:t>
            </a:r>
            <a:endParaRPr lang="en-US" sz="2400" dirty="0">
              <a:solidFill>
                <a:schemeClr val="tx1"/>
              </a:solidFill>
            </a:endParaRPr>
          </a:p>
        </p:txBody>
      </p:sp>
      <p:sp>
        <p:nvSpPr>
          <p:cNvPr id="7" name="TextBox 6">
            <a:extLst>
              <a:ext uri="{FF2B5EF4-FFF2-40B4-BE49-F238E27FC236}">
                <a16:creationId xmlns:a16="http://schemas.microsoft.com/office/drawing/2014/main" id="{86B79BAB-0195-236A-70B8-3DECB286B2B5}"/>
              </a:ext>
            </a:extLst>
          </p:cNvPr>
          <p:cNvSpPr txBox="1"/>
          <p:nvPr/>
        </p:nvSpPr>
        <p:spPr>
          <a:xfrm>
            <a:off x="3377272" y="3596988"/>
            <a:ext cx="6093724" cy="584775"/>
          </a:xfrm>
          <a:prstGeom prst="rect">
            <a:avLst/>
          </a:prstGeom>
          <a:noFill/>
        </p:spPr>
        <p:txBody>
          <a:bodyPr wrap="square">
            <a:spAutoFit/>
          </a:bodyPr>
          <a:lstStyle/>
          <a:p>
            <a:pPr algn="ctr"/>
            <a:r>
              <a:rPr lang="en-US" sz="3200" b="1" dirty="0">
                <a:solidFill>
                  <a:schemeClr val="accent1">
                    <a:lumMod val="75000"/>
                  </a:schemeClr>
                </a:solidFill>
                <a:latin typeface="+mn-lt"/>
              </a:rPr>
              <a:t>Review-I</a:t>
            </a:r>
            <a:endParaRPr lang="en-US" dirty="0">
              <a:solidFill>
                <a:schemeClr val="accent1">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740066" y="1399719"/>
            <a:ext cx="6936386" cy="3735253"/>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dirty="0">
                <a:solidFill>
                  <a:srgbClr val="000000"/>
                </a:solidFill>
                <a:latin typeface="Calibri" panose="020F0502020204030204" pitchFamily="34" charset="0"/>
                <a:cs typeface="Gautami" panose="020B0502040204020203" pitchFamily="34" charset="0"/>
              </a:rPr>
              <a:t>System Architecture</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endParaRPr lang="en-IN" dirty="0"/>
          </a:p>
        </p:txBody>
      </p:sp>
      <p:sp>
        <p:nvSpPr>
          <p:cNvPr id="8" name="Rectangle: Rounded Corners 7"/>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
        <p:nvSpPr>
          <p:cNvPr id="2" name="Date Placeholder 1">
            <a:extLst>
              <a:ext uri="{FF2B5EF4-FFF2-40B4-BE49-F238E27FC236}">
                <a16:creationId xmlns:a16="http://schemas.microsoft.com/office/drawing/2014/main" id="{821029D6-E146-55B7-6FE6-DD167709DA3C}"/>
              </a:ext>
            </a:extLst>
          </p:cNvPr>
          <p:cNvSpPr>
            <a:spLocks noGrp="1"/>
          </p:cNvSpPr>
          <p:nvPr>
            <p:ph type="dt" sz="half" idx="10"/>
          </p:nvPr>
        </p:nvSpPr>
        <p:spPr/>
        <p:txBody>
          <a:bodyPr/>
          <a:lstStyle/>
          <a:p>
            <a:fld id="{32179801-AD4A-4368-9C25-F8FFDCCA9D13}" type="datetime1">
              <a:rPr lang="en-US" smtClean="0"/>
              <a:t>9/19/2026</a:t>
            </a:fld>
            <a:endParaRPr lang="en-US"/>
          </a:p>
        </p:txBody>
      </p:sp>
      <p:sp>
        <p:nvSpPr>
          <p:cNvPr id="3" name="Slide Number Placeholder 2">
            <a:extLst>
              <a:ext uri="{FF2B5EF4-FFF2-40B4-BE49-F238E27FC236}">
                <a16:creationId xmlns:a16="http://schemas.microsoft.com/office/drawing/2014/main" id="{CF031D3A-8519-E357-DDA9-EAECFBBAEB51}"/>
              </a:ext>
            </a:extLst>
          </p:cNvPr>
          <p:cNvSpPr>
            <a:spLocks noGrp="1"/>
          </p:cNvSpPr>
          <p:nvPr>
            <p:ph type="sldNum" sz="quarter" idx="12"/>
          </p:nvPr>
        </p:nvSpPr>
        <p:spPr/>
        <p:txBody>
          <a:bodyPr/>
          <a:lstStyle/>
          <a:p>
            <a:fld id="{7EED5C5B-9EF4-44F9-8A5E-F9CA765F3D63}"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Abstract</a:t>
            </a:r>
          </a:p>
        </p:txBody>
      </p:sp>
      <p:sp>
        <p:nvSpPr>
          <p:cNvPr id="5" name="Date Placeholder 4">
            <a:extLst>
              <a:ext uri="{FF2B5EF4-FFF2-40B4-BE49-F238E27FC236}">
                <a16:creationId xmlns:a16="http://schemas.microsoft.com/office/drawing/2014/main" id="{AFE0CFDE-CD93-201B-A399-23510E8EDADB}"/>
              </a:ext>
            </a:extLst>
          </p:cNvPr>
          <p:cNvSpPr>
            <a:spLocks noGrp="1"/>
          </p:cNvSpPr>
          <p:nvPr>
            <p:ph type="dt" sz="half" idx="10"/>
          </p:nvPr>
        </p:nvSpPr>
        <p:spPr/>
        <p:txBody>
          <a:bodyPr/>
          <a:lstStyle/>
          <a:p>
            <a:fld id="{35DB7AC3-148D-47E6-92EE-86CA146E5716}" type="datetime1">
              <a:rPr lang="en-US" smtClean="0"/>
              <a:t>9/19/2026</a:t>
            </a:fld>
            <a:endParaRPr lang="en-US"/>
          </a:p>
        </p:txBody>
      </p:sp>
      <p:sp>
        <p:nvSpPr>
          <p:cNvPr id="6" name="Slide Number Placeholder 5">
            <a:extLst>
              <a:ext uri="{FF2B5EF4-FFF2-40B4-BE49-F238E27FC236}">
                <a16:creationId xmlns:a16="http://schemas.microsoft.com/office/drawing/2014/main" id="{E7A097D3-BC04-F1C9-00E9-94B0738C1418}"/>
              </a:ext>
            </a:extLst>
          </p:cNvPr>
          <p:cNvSpPr>
            <a:spLocks noGrp="1"/>
          </p:cNvSpPr>
          <p:nvPr>
            <p:ph type="sldNum" sz="quarter" idx="12"/>
          </p:nvPr>
        </p:nvSpPr>
        <p:spPr/>
        <p:txBody>
          <a:bodyPr/>
          <a:lstStyle/>
          <a:p>
            <a:fld id="{7EED5C5B-9EF4-44F9-8A5E-F9CA765F3D63}" type="slidenum">
              <a:rPr lang="en-US" smtClean="0"/>
              <a:t>3</a:t>
            </a:fld>
            <a:endParaRPr lang="en-US"/>
          </a:p>
        </p:txBody>
      </p:sp>
      <p:sp>
        <p:nvSpPr>
          <p:cNvPr id="7" name="TextBox 6">
            <a:extLst>
              <a:ext uri="{FF2B5EF4-FFF2-40B4-BE49-F238E27FC236}">
                <a16:creationId xmlns:a16="http://schemas.microsoft.com/office/drawing/2014/main" id="{F602DB1C-5904-40D6-B24A-6BBCD0D678CD}"/>
              </a:ext>
            </a:extLst>
          </p:cNvPr>
          <p:cNvSpPr txBox="1"/>
          <p:nvPr/>
        </p:nvSpPr>
        <p:spPr>
          <a:xfrm>
            <a:off x="0" y="1509204"/>
            <a:ext cx="11878322" cy="5021888"/>
          </a:xfrm>
          <a:prstGeom prst="rect">
            <a:avLst/>
          </a:prstGeom>
          <a:noFill/>
        </p:spPr>
        <p:txBody>
          <a:bodyPr wrap="square" rtlCol="0">
            <a:spAutoFit/>
          </a:bodyPr>
          <a:lstStyle/>
          <a:p>
            <a:pPr>
              <a:lnSpc>
                <a:spcPct val="150000"/>
              </a:lnSpc>
              <a:spcAft>
                <a:spcPts val="1000"/>
              </a:spcAft>
            </a:pPr>
            <a:r>
              <a:rPr lang="en-IN" sz="1400" dirty="0">
                <a:effectLst/>
                <a:latin typeface="Arial" panose="020B0604020202020204" pitchFamily="34" charset="0"/>
                <a:ea typeface="Calibri Light" panose="020F0302020204030204" pitchFamily="34" charset="0"/>
                <a:cs typeface="Arial" panose="020B0604020202020204" pitchFamily="34" charset="0"/>
              </a:rPr>
              <a:t>The </a:t>
            </a:r>
            <a:r>
              <a:rPr lang="en-IN" sz="1400" b="1" dirty="0">
                <a:effectLst/>
                <a:latin typeface="Arial" panose="020B0604020202020204" pitchFamily="34" charset="0"/>
                <a:ea typeface="Calibri Light" panose="020F0302020204030204" pitchFamily="34" charset="0"/>
                <a:cs typeface="Arial" panose="020B0604020202020204" pitchFamily="34" charset="0"/>
              </a:rPr>
              <a:t>Kernel Monitor</a:t>
            </a:r>
            <a:r>
              <a:rPr lang="en-IN" sz="1400" dirty="0">
                <a:effectLst/>
                <a:latin typeface="Arial" panose="020B0604020202020204" pitchFamily="34" charset="0"/>
                <a:ea typeface="Calibri Light" panose="020F0302020204030204" pitchFamily="34" charset="0"/>
                <a:cs typeface="Arial" panose="020B0604020202020204" pitchFamily="34" charset="0"/>
              </a:rPr>
              <a:t> is a system-level monitoring project designed to observe, </a:t>
            </a:r>
            <a:r>
              <a:rPr lang="en-IN" sz="1400" dirty="0" err="1">
                <a:effectLst/>
                <a:latin typeface="Arial" panose="020B0604020202020204" pitchFamily="34" charset="0"/>
                <a:ea typeface="Calibri Light" panose="020F0302020204030204" pitchFamily="34" charset="0"/>
                <a:cs typeface="Arial" panose="020B0604020202020204" pitchFamily="34" charset="0"/>
              </a:rPr>
              <a:t>analyze</a:t>
            </a:r>
            <a:r>
              <a:rPr lang="en-IN" sz="1400" dirty="0">
                <a:effectLst/>
                <a:latin typeface="Arial" panose="020B0604020202020204" pitchFamily="34" charset="0"/>
                <a:ea typeface="Calibri Light" panose="020F0302020204030204" pitchFamily="34" charset="0"/>
                <a:cs typeface="Arial" panose="020B0604020202020204" pitchFamily="34" charset="0"/>
              </a:rPr>
              <a:t>, and report the activities and performance of the operating system kernel. The kernel is the core component of an operating system that manages essential resources such as the CPU, memory, processes, files, and input/output devices. Monitoring kernel-level activities is important for understanding system </a:t>
            </a:r>
            <a:r>
              <a:rPr lang="en-IN" sz="1400" dirty="0" err="1">
                <a:effectLst/>
                <a:latin typeface="Arial" panose="020B0604020202020204" pitchFamily="34" charset="0"/>
                <a:ea typeface="Calibri Light" panose="020F0302020204030204" pitchFamily="34" charset="0"/>
                <a:cs typeface="Arial" panose="020B0604020202020204" pitchFamily="34" charset="0"/>
              </a:rPr>
              <a:t>behavior</a:t>
            </a:r>
            <a:r>
              <a:rPr lang="en-IN" sz="1400" dirty="0">
                <a:effectLst/>
                <a:latin typeface="Arial" panose="020B0604020202020204" pitchFamily="34" charset="0"/>
                <a:ea typeface="Calibri Light" panose="020F0302020204030204" pitchFamily="34" charset="0"/>
                <a:cs typeface="Arial" panose="020B0604020202020204" pitchFamily="34" charset="0"/>
              </a:rPr>
              <a:t>, identifying performance bottlenecks, detecting abnormal activities, and improving overall system reliability. This project focuses on developing a lightweight monitoring mechanism that provides useful information about the internal functioning of the operating system.</a:t>
            </a:r>
          </a:p>
          <a:p>
            <a:pPr>
              <a:lnSpc>
                <a:spcPct val="150000"/>
              </a:lnSpc>
              <a:spcAft>
                <a:spcPts val="1000"/>
              </a:spcAft>
            </a:pPr>
            <a:r>
              <a:rPr lang="en-IN" sz="1400" dirty="0">
                <a:effectLst/>
                <a:latin typeface="Arial" panose="020B0604020202020204" pitchFamily="34" charset="0"/>
                <a:ea typeface="Calibri Light" panose="020F0302020204030204" pitchFamily="34" charset="0"/>
                <a:cs typeface="Arial" panose="020B0604020202020204" pitchFamily="34" charset="0"/>
              </a:rPr>
              <a:t>The proposed Kernel Monitor collects and displays important system information such as running processes, CPU utilization, memory usage, process states, system calls, and other relevant kernel activities. It provides users with a clear view of how system resources are being utilized and how processes interact with the operating system. The monitor can periodically collect information from kernel interfaces and present it in a structured and understandable format. Process-related information can be used to observe process creation, execution, scheduling, and termination.</a:t>
            </a:r>
          </a:p>
          <a:p>
            <a:pPr>
              <a:lnSpc>
                <a:spcPct val="150000"/>
              </a:lnSpc>
              <a:spcAft>
                <a:spcPts val="1000"/>
              </a:spcAft>
            </a:pPr>
            <a:r>
              <a:rPr lang="en-IN" sz="1400" dirty="0">
                <a:effectLst/>
                <a:latin typeface="Arial" panose="020B0604020202020204" pitchFamily="34" charset="0"/>
                <a:ea typeface="Calibri Light" panose="020F0302020204030204" pitchFamily="34" charset="0"/>
                <a:cs typeface="Arial" panose="020B0604020202020204" pitchFamily="34" charset="0"/>
              </a:rPr>
              <a:t> </a:t>
            </a:r>
          </a:p>
          <a:p>
            <a:pPr>
              <a:lnSpc>
                <a:spcPct val="150000"/>
              </a:lnSpc>
              <a:spcAft>
                <a:spcPts val="1000"/>
              </a:spcAft>
            </a:pPr>
            <a:r>
              <a:rPr lang="en-IN" sz="1400" dirty="0">
                <a:effectLst/>
                <a:latin typeface="Arial" panose="020B0604020202020204" pitchFamily="34" charset="0"/>
                <a:ea typeface="Calibri Light" panose="020F0302020204030204" pitchFamily="34" charset="0"/>
                <a:cs typeface="Arial" panose="020B0604020202020204" pitchFamily="34" charset="0"/>
              </a:rPr>
              <a:t>Overall, the </a:t>
            </a:r>
            <a:r>
              <a:rPr lang="en-IN" sz="1400" b="1" dirty="0">
                <a:effectLst/>
                <a:latin typeface="Arial" panose="020B0604020202020204" pitchFamily="34" charset="0"/>
                <a:ea typeface="Calibri Light" panose="020F0302020204030204" pitchFamily="34" charset="0"/>
                <a:cs typeface="Arial" panose="020B0604020202020204" pitchFamily="34" charset="0"/>
              </a:rPr>
              <a:t>Kernel Monitor</a:t>
            </a:r>
            <a:r>
              <a:rPr lang="en-IN" sz="1400" dirty="0">
                <a:effectLst/>
                <a:latin typeface="Arial" panose="020B0604020202020204" pitchFamily="34" charset="0"/>
                <a:ea typeface="Calibri Light" panose="020F0302020204030204" pitchFamily="34" charset="0"/>
                <a:cs typeface="Arial" panose="020B0604020202020204" pitchFamily="34" charset="0"/>
              </a:rPr>
              <a:t> project provides practical exposure to operating system internals, Linux system programming, process management, resource monitoring, and kernel-user space communication. It bridges the gap between theoretical operating system concepts and their practical implementation, making it a useful educational and system-analysis tool.</a:t>
            </a:r>
          </a:p>
          <a:p>
            <a:endParaRPr lang="en-IN"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E3377-AD48-C317-56EF-BB6DEA41CB0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E7DFF9B-AF13-3CBC-C2B1-8156A6C27ADB}"/>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42E30A3-627A-0C0D-8E68-FFD84EF51DAA}"/>
              </a:ext>
            </a:extLst>
          </p:cNvPr>
          <p:cNvSpPr txBox="1"/>
          <p:nvPr/>
        </p:nvSpPr>
        <p:spPr>
          <a:xfrm>
            <a:off x="2660072" y="186162"/>
            <a:ext cx="6871855" cy="521970"/>
          </a:xfrm>
          <a:prstGeom prst="rect">
            <a:avLst/>
          </a:prstGeom>
          <a:noFill/>
        </p:spPr>
        <p:txBody>
          <a:bodyPr wrap="square" rtlCol="0">
            <a:spAutoFit/>
          </a:bodyPr>
          <a:lstStyle/>
          <a:p>
            <a:pPr algn="ctr"/>
            <a:r>
              <a:rPr lang="en-US" sz="2800" b="1" dirty="0">
                <a:solidFill>
                  <a:schemeClr val="bg1"/>
                </a:solidFill>
              </a:rPr>
              <a:t>Introduction</a:t>
            </a:r>
          </a:p>
        </p:txBody>
      </p:sp>
      <p:sp>
        <p:nvSpPr>
          <p:cNvPr id="5" name="Date Placeholder 4">
            <a:extLst>
              <a:ext uri="{FF2B5EF4-FFF2-40B4-BE49-F238E27FC236}">
                <a16:creationId xmlns:a16="http://schemas.microsoft.com/office/drawing/2014/main" id="{1FE559BE-24A9-DD17-5994-3CA09176D0C0}"/>
              </a:ext>
            </a:extLst>
          </p:cNvPr>
          <p:cNvSpPr>
            <a:spLocks noGrp="1"/>
          </p:cNvSpPr>
          <p:nvPr>
            <p:ph type="dt" sz="half" idx="10"/>
          </p:nvPr>
        </p:nvSpPr>
        <p:spPr/>
        <p:txBody>
          <a:bodyPr/>
          <a:lstStyle/>
          <a:p>
            <a:fld id="{35DB7AC3-148D-47E6-92EE-86CA146E5716}" type="datetime1">
              <a:rPr lang="en-US" smtClean="0"/>
              <a:t>9/19/2026</a:t>
            </a:fld>
            <a:endParaRPr lang="en-US"/>
          </a:p>
        </p:txBody>
      </p:sp>
      <p:sp>
        <p:nvSpPr>
          <p:cNvPr id="6" name="Slide Number Placeholder 5">
            <a:extLst>
              <a:ext uri="{FF2B5EF4-FFF2-40B4-BE49-F238E27FC236}">
                <a16:creationId xmlns:a16="http://schemas.microsoft.com/office/drawing/2014/main" id="{917CD269-83F2-F4C5-3099-E35078586FE9}"/>
              </a:ext>
            </a:extLst>
          </p:cNvPr>
          <p:cNvSpPr>
            <a:spLocks noGrp="1"/>
          </p:cNvSpPr>
          <p:nvPr>
            <p:ph type="sldNum" sz="quarter" idx="12"/>
          </p:nvPr>
        </p:nvSpPr>
        <p:spPr/>
        <p:txBody>
          <a:bodyPr/>
          <a:lstStyle/>
          <a:p>
            <a:fld id="{7EED5C5B-9EF4-44F9-8A5E-F9CA765F3D63}" type="slidenum">
              <a:rPr lang="en-US" smtClean="0"/>
              <a:t>4</a:t>
            </a:fld>
            <a:endParaRPr lang="en-US"/>
          </a:p>
        </p:txBody>
      </p:sp>
      <p:sp>
        <p:nvSpPr>
          <p:cNvPr id="9" name="Rectangle 3">
            <a:extLst>
              <a:ext uri="{FF2B5EF4-FFF2-40B4-BE49-F238E27FC236}">
                <a16:creationId xmlns:a16="http://schemas.microsoft.com/office/drawing/2014/main" id="{AE73F1D1-46A7-4153-BC11-017292E355BF}"/>
              </a:ext>
            </a:extLst>
          </p:cNvPr>
          <p:cNvSpPr>
            <a:spLocks noChangeArrowheads="1"/>
          </p:cNvSpPr>
          <p:nvPr/>
        </p:nvSpPr>
        <p:spPr bwMode="auto">
          <a:xfrm>
            <a:off x="204186" y="1824079"/>
            <a:ext cx="1198781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Kernel Monitor</a:t>
            </a:r>
            <a:r>
              <a:rPr kumimoji="0" lang="en-US" altLang="en-US" sz="1800" b="0" i="0" u="none" strike="noStrike" cap="none" normalizeH="0" baseline="0" dirty="0">
                <a:ln>
                  <a:noFill/>
                </a:ln>
                <a:solidFill>
                  <a:schemeClr val="tx1"/>
                </a:solidFill>
                <a:effectLst/>
                <a:latin typeface="Arial" panose="020B0604020202020204" pitchFamily="34" charset="0"/>
              </a:rPr>
              <a:t> is a system-level monitoring application designed to observe and display important information about the Linux operating system. The Linux kernel manages essential resources such as CPU, memory, processes, and system performance. However, this information is not always easy for users to understand directly.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proposed Kernel Monitor collects system information from the Linux kernel using interfaces such as the </a:t>
            </a:r>
            <a:r>
              <a:rPr kumimoji="0" lang="en-US" altLang="en-US" sz="1000" b="1" i="0" u="none" strike="noStrike" cap="none" normalizeH="0" baseline="0" dirty="0">
                <a:ln>
                  <a:noFill/>
                </a:ln>
                <a:solidFill>
                  <a:schemeClr val="tx1"/>
                </a:solidFill>
                <a:effectLst/>
                <a:latin typeface="Arial Unicode MS"/>
              </a:rPr>
              <a:t>/proc</a:t>
            </a:r>
            <a:r>
              <a:rPr kumimoji="0" lang="en-US" altLang="en-US" sz="800" b="1" i="0" u="none" strike="noStrike" cap="none" normalizeH="0" baseline="0" dirty="0">
                <a:ln>
                  <a:noFill/>
                </a:ln>
                <a:solidFill>
                  <a:schemeClr val="tx1"/>
                </a:solidFill>
                <a:effectLst/>
              </a:rPr>
              <a:t> filesystem</a:t>
            </a:r>
            <a:r>
              <a:rPr kumimoji="0" lang="en-US" altLang="en-US" sz="1800" b="0" i="0" u="none" strike="noStrike" cap="none" normalizeH="0" baseline="0" dirty="0">
                <a:ln>
                  <a:noFill/>
                </a:ln>
                <a:solidFill>
                  <a:schemeClr val="tx1"/>
                </a:solidFill>
                <a:effectLst/>
                <a:latin typeface="Arial" panose="020B0604020202020204" pitchFamily="34" charset="0"/>
              </a:rPr>
              <a:t> and Linux system APIs. It monitors details such as CPU usage, memory utilization, running processes, process states, system uptime, and system load.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project is implemented using </a:t>
            </a:r>
            <a:r>
              <a:rPr kumimoji="0" lang="en-US" altLang="en-US" sz="1800" b="1" i="0" u="none" strike="noStrike" cap="none" normalizeH="0" baseline="0" dirty="0">
                <a:ln>
                  <a:noFill/>
                </a:ln>
                <a:solidFill>
                  <a:schemeClr val="tx1"/>
                </a:solidFill>
                <a:effectLst/>
                <a:latin typeface="Arial" panose="020B0604020202020204" pitchFamily="34" charset="0"/>
              </a:rPr>
              <a:t>C programming on Linux/Ubuntu</a:t>
            </a:r>
            <a:r>
              <a:rPr kumimoji="0" lang="en-US" altLang="en-US" sz="1800" b="0" i="0" u="none" strike="noStrike" cap="none" normalizeH="0" baseline="0" dirty="0">
                <a:ln>
                  <a:noFill/>
                </a:ln>
                <a:solidFill>
                  <a:schemeClr val="tx1"/>
                </a:solidFill>
                <a:effectLst/>
                <a:latin typeface="Arial" panose="020B0604020202020204" pitchFamily="34" charset="0"/>
              </a:rPr>
              <a:t> and demonstrates important Operating System concepts including </a:t>
            </a:r>
            <a:r>
              <a:rPr kumimoji="0" lang="en-US" altLang="en-US" sz="1800" b="1" i="0" u="none" strike="noStrike" cap="none" normalizeH="0" baseline="0" dirty="0">
                <a:ln>
                  <a:noFill/>
                </a:ln>
                <a:solidFill>
                  <a:schemeClr val="tx1"/>
                </a:solidFill>
                <a:effectLst/>
                <a:latin typeface="Arial" panose="020B0604020202020204" pitchFamily="34" charset="0"/>
              </a:rPr>
              <a:t>process management, kernel-user space interaction, system calls, memory management, and resource monitoring</a:t>
            </a:r>
            <a:r>
              <a:rPr kumimoji="0" lang="en-US" altLang="en-US" sz="1800" b="0" i="0" u="none" strike="noStrike" cap="none" normalizeH="0" baseline="0" dirty="0">
                <a:ln>
                  <a:noFill/>
                </a:ln>
                <a:solidFill>
                  <a:schemeClr val="tx1"/>
                </a:solidFill>
                <a:effectLst/>
                <a:latin typeface="Arial" panose="020B0604020202020204" pitchFamily="34" charset="0"/>
              </a:rPr>
              <a:t>. The collected information is processed and presented in a simple and understandable format.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main purpose of this project is to provide users with a lightweight tool for observing system activity and understanding how the Linux kernel manages computer resources.</a:t>
            </a:r>
          </a:p>
        </p:txBody>
      </p:sp>
    </p:spTree>
    <p:extLst>
      <p:ext uri="{BB962C8B-B14F-4D97-AF65-F5344CB8AC3E}">
        <p14:creationId xmlns:p14="http://schemas.microsoft.com/office/powerpoint/2010/main" val="4016184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96004" y="221615"/>
            <a:ext cx="6374349" cy="52959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3"/>
          <p:cNvSpPr txBox="1"/>
          <p:nvPr/>
        </p:nvSpPr>
        <p:spPr>
          <a:xfrm>
            <a:off x="3970655" y="221615"/>
            <a:ext cx="6374348" cy="671195"/>
          </a:xfrm>
          <a:prstGeom prst="rect">
            <a:avLst/>
          </a:prstGeom>
          <a:noFill/>
        </p:spPr>
        <p:txBody>
          <a:bodyPr wrap="square" rtlCol="0">
            <a:noAutofit/>
          </a:bodyPr>
          <a:lstStyle/>
          <a:p>
            <a:r>
              <a:rPr lang="en-US" altLang="en-US" sz="2800" b="1" dirty="0">
                <a:solidFill>
                  <a:schemeClr val="bg1"/>
                </a:solidFill>
              </a:rPr>
              <a:t>Hardware and Software requirements</a:t>
            </a:r>
          </a:p>
        </p:txBody>
      </p:sp>
      <p:sp>
        <p:nvSpPr>
          <p:cNvPr id="5" name="Text Box 4"/>
          <p:cNvSpPr txBox="1"/>
          <p:nvPr/>
        </p:nvSpPr>
        <p:spPr>
          <a:xfrm>
            <a:off x="2974340" y="1289000"/>
            <a:ext cx="5774690" cy="3643630"/>
          </a:xfrm>
          <a:prstGeom prst="rect">
            <a:avLst/>
          </a:prstGeom>
          <a:noFill/>
        </p:spPr>
        <p:txBody>
          <a:bodyPr wrap="square" rtlCol="0">
            <a:noAutofit/>
          </a:bodyPr>
          <a:lstStyle/>
          <a:p>
            <a:r>
              <a:rPr lang="en-US" altLang="en-US" sz="2500" b="1" dirty="0"/>
              <a:t>List the Requirements in table format</a:t>
            </a:r>
          </a:p>
        </p:txBody>
      </p:sp>
      <p:sp>
        <p:nvSpPr>
          <p:cNvPr id="3" name="Date Placeholder 2">
            <a:extLst>
              <a:ext uri="{FF2B5EF4-FFF2-40B4-BE49-F238E27FC236}">
                <a16:creationId xmlns:a16="http://schemas.microsoft.com/office/drawing/2014/main" id="{7A4B27F7-CA90-4D59-F334-BDE7693BDAAC}"/>
              </a:ext>
            </a:extLst>
          </p:cNvPr>
          <p:cNvSpPr>
            <a:spLocks noGrp="1"/>
          </p:cNvSpPr>
          <p:nvPr>
            <p:ph type="dt" sz="half" idx="10"/>
          </p:nvPr>
        </p:nvSpPr>
        <p:spPr/>
        <p:txBody>
          <a:bodyPr/>
          <a:lstStyle/>
          <a:p>
            <a:fld id="{FEC03DE9-87EE-417A-AE3E-75342F0B996E}" type="datetime1">
              <a:rPr lang="en-US" smtClean="0"/>
              <a:t>9/19/2026</a:t>
            </a:fld>
            <a:endParaRPr lang="en-US"/>
          </a:p>
        </p:txBody>
      </p:sp>
      <p:sp>
        <p:nvSpPr>
          <p:cNvPr id="6" name="Slide Number Placeholder 5">
            <a:extLst>
              <a:ext uri="{FF2B5EF4-FFF2-40B4-BE49-F238E27FC236}">
                <a16:creationId xmlns:a16="http://schemas.microsoft.com/office/drawing/2014/main" id="{C9563280-B772-867A-6341-08A7DB8CCFB2}"/>
              </a:ext>
            </a:extLst>
          </p:cNvPr>
          <p:cNvSpPr>
            <a:spLocks noGrp="1"/>
          </p:cNvSpPr>
          <p:nvPr>
            <p:ph type="sldNum" sz="quarter" idx="12"/>
          </p:nvPr>
        </p:nvSpPr>
        <p:spPr/>
        <p:txBody>
          <a:bodyPr/>
          <a:lstStyle/>
          <a:p>
            <a:fld id="{7EED5C5B-9EF4-44F9-8A5E-F9CA765F3D63}" type="slidenum">
              <a:rPr lang="en-US" smtClean="0"/>
              <a:t>5</a:t>
            </a:fld>
            <a:endParaRPr lang="en-US"/>
          </a:p>
        </p:txBody>
      </p:sp>
      <p:graphicFrame>
        <p:nvGraphicFramePr>
          <p:cNvPr id="26" name="Table 25">
            <a:extLst>
              <a:ext uri="{FF2B5EF4-FFF2-40B4-BE49-F238E27FC236}">
                <a16:creationId xmlns:a16="http://schemas.microsoft.com/office/drawing/2014/main" id="{C71287D0-A569-4A07-8C1B-C67DE2E49052}"/>
              </a:ext>
            </a:extLst>
          </p:cNvPr>
          <p:cNvGraphicFramePr>
            <a:graphicFrameLocks noGrp="1"/>
          </p:cNvGraphicFramePr>
          <p:nvPr>
            <p:extLst>
              <p:ext uri="{D42A27DB-BD31-4B8C-83A1-F6EECF244321}">
                <p14:modId xmlns:p14="http://schemas.microsoft.com/office/powerpoint/2010/main" val="2305309621"/>
              </p:ext>
            </p:extLst>
          </p:nvPr>
        </p:nvGraphicFramePr>
        <p:xfrm>
          <a:off x="838200" y="2721134"/>
          <a:ext cx="5171984" cy="2103120"/>
        </p:xfrm>
        <a:graphic>
          <a:graphicData uri="http://schemas.openxmlformats.org/drawingml/2006/table">
            <a:tbl>
              <a:tblPr/>
              <a:tblGrid>
                <a:gridCol w="2585992">
                  <a:extLst>
                    <a:ext uri="{9D8B030D-6E8A-4147-A177-3AD203B41FA5}">
                      <a16:colId xmlns:a16="http://schemas.microsoft.com/office/drawing/2014/main" val="2074766851"/>
                    </a:ext>
                  </a:extLst>
                </a:gridCol>
                <a:gridCol w="2585992">
                  <a:extLst>
                    <a:ext uri="{9D8B030D-6E8A-4147-A177-3AD203B41FA5}">
                      <a16:colId xmlns:a16="http://schemas.microsoft.com/office/drawing/2014/main" val="3533595746"/>
                    </a:ext>
                  </a:extLst>
                </a:gridCol>
              </a:tblGrid>
              <a:tr h="0">
                <a:tc>
                  <a:txBody>
                    <a:bodyPr/>
                    <a:lstStyle/>
                    <a:p>
                      <a:r>
                        <a:rPr lang="en-IN" sz="1200" dirty="0">
                          <a:solidFill>
                            <a:schemeClr val="tx1"/>
                          </a:solidFill>
                        </a:rPr>
                        <a:t>Hardware</a:t>
                      </a:r>
                    </a:p>
                  </a:txBody>
                  <a:tcPr anchor="ctr">
                    <a:lnL>
                      <a:noFill/>
                    </a:lnL>
                    <a:lnR>
                      <a:noFill/>
                    </a:lnR>
                    <a:lnT>
                      <a:noFill/>
                    </a:lnT>
                    <a:lnB>
                      <a:noFill/>
                    </a:lnB>
                  </a:tcPr>
                </a:tc>
                <a:tc>
                  <a:txBody>
                    <a:bodyPr/>
                    <a:lstStyle/>
                    <a:p>
                      <a:r>
                        <a:rPr lang="en-IN" sz="1200">
                          <a:solidFill>
                            <a:schemeClr val="tx1"/>
                          </a:solidFill>
                        </a:rPr>
                        <a:t>Minimum Requirement</a:t>
                      </a:r>
                    </a:p>
                  </a:txBody>
                  <a:tcPr anchor="ctr">
                    <a:lnL>
                      <a:noFill/>
                    </a:lnL>
                    <a:lnR>
                      <a:noFill/>
                    </a:lnR>
                    <a:lnT>
                      <a:noFill/>
                    </a:lnT>
                    <a:lnB>
                      <a:noFill/>
                    </a:lnB>
                  </a:tcPr>
                </a:tc>
                <a:extLst>
                  <a:ext uri="{0D108BD9-81ED-4DB2-BD59-A6C34878D82A}">
                    <a16:rowId xmlns:a16="http://schemas.microsoft.com/office/drawing/2014/main" val="1432946332"/>
                  </a:ext>
                </a:extLst>
              </a:tr>
              <a:tr h="0">
                <a:tc>
                  <a:txBody>
                    <a:bodyPr/>
                    <a:lstStyle/>
                    <a:p>
                      <a:r>
                        <a:rPr lang="en-IN" sz="1200">
                          <a:solidFill>
                            <a:schemeClr val="tx1"/>
                          </a:solidFill>
                        </a:rPr>
                        <a:t>Processor</a:t>
                      </a:r>
                    </a:p>
                  </a:txBody>
                  <a:tcPr anchor="ctr">
                    <a:lnL>
                      <a:noFill/>
                    </a:lnL>
                    <a:lnR>
                      <a:noFill/>
                    </a:lnR>
                    <a:lnT>
                      <a:noFill/>
                    </a:lnT>
                    <a:lnB>
                      <a:noFill/>
                    </a:lnB>
                  </a:tcPr>
                </a:tc>
                <a:tc>
                  <a:txBody>
                    <a:bodyPr/>
                    <a:lstStyle/>
                    <a:p>
                      <a:r>
                        <a:rPr lang="en-IN" sz="1200">
                          <a:solidFill>
                            <a:schemeClr val="tx1"/>
                          </a:solidFill>
                        </a:rPr>
                        <a:t>Intel Core i3 or equivalent</a:t>
                      </a:r>
                    </a:p>
                  </a:txBody>
                  <a:tcPr anchor="ctr">
                    <a:lnL>
                      <a:noFill/>
                    </a:lnL>
                    <a:lnR>
                      <a:noFill/>
                    </a:lnR>
                    <a:lnT>
                      <a:noFill/>
                    </a:lnT>
                    <a:lnB>
                      <a:noFill/>
                    </a:lnB>
                  </a:tcPr>
                </a:tc>
                <a:extLst>
                  <a:ext uri="{0D108BD9-81ED-4DB2-BD59-A6C34878D82A}">
                    <a16:rowId xmlns:a16="http://schemas.microsoft.com/office/drawing/2014/main" val="2328072106"/>
                  </a:ext>
                </a:extLst>
              </a:tr>
              <a:tr h="0">
                <a:tc>
                  <a:txBody>
                    <a:bodyPr/>
                    <a:lstStyle/>
                    <a:p>
                      <a:r>
                        <a:rPr lang="en-IN" sz="1200">
                          <a:solidFill>
                            <a:schemeClr val="tx1"/>
                          </a:solidFill>
                        </a:rPr>
                        <a:t>RAM</a:t>
                      </a:r>
                    </a:p>
                  </a:txBody>
                  <a:tcPr anchor="ctr">
                    <a:lnL>
                      <a:noFill/>
                    </a:lnL>
                    <a:lnR>
                      <a:noFill/>
                    </a:lnR>
                    <a:lnT>
                      <a:noFill/>
                    </a:lnT>
                    <a:lnB>
                      <a:noFill/>
                    </a:lnB>
                  </a:tcPr>
                </a:tc>
                <a:tc>
                  <a:txBody>
                    <a:bodyPr/>
                    <a:lstStyle/>
                    <a:p>
                      <a:r>
                        <a:rPr lang="en-IN" sz="1200">
                          <a:solidFill>
                            <a:schemeClr val="tx1"/>
                          </a:solidFill>
                        </a:rPr>
                        <a:t>4 GB or more</a:t>
                      </a:r>
                    </a:p>
                  </a:txBody>
                  <a:tcPr anchor="ctr">
                    <a:lnL>
                      <a:noFill/>
                    </a:lnL>
                    <a:lnR>
                      <a:noFill/>
                    </a:lnR>
                    <a:lnT>
                      <a:noFill/>
                    </a:lnT>
                    <a:lnB>
                      <a:noFill/>
                    </a:lnB>
                  </a:tcPr>
                </a:tc>
                <a:extLst>
                  <a:ext uri="{0D108BD9-81ED-4DB2-BD59-A6C34878D82A}">
                    <a16:rowId xmlns:a16="http://schemas.microsoft.com/office/drawing/2014/main" val="1594377906"/>
                  </a:ext>
                </a:extLst>
              </a:tr>
              <a:tr h="0">
                <a:tc>
                  <a:txBody>
                    <a:bodyPr/>
                    <a:lstStyle/>
                    <a:p>
                      <a:r>
                        <a:rPr lang="en-IN" sz="1200">
                          <a:solidFill>
                            <a:schemeClr val="tx1"/>
                          </a:solidFill>
                        </a:rPr>
                        <a:t>Storage</a:t>
                      </a:r>
                    </a:p>
                  </a:txBody>
                  <a:tcPr anchor="ctr">
                    <a:lnL>
                      <a:noFill/>
                    </a:lnL>
                    <a:lnR>
                      <a:noFill/>
                    </a:lnR>
                    <a:lnT>
                      <a:noFill/>
                    </a:lnT>
                    <a:lnB>
                      <a:noFill/>
                    </a:lnB>
                  </a:tcPr>
                </a:tc>
                <a:tc>
                  <a:txBody>
                    <a:bodyPr/>
                    <a:lstStyle/>
                    <a:p>
                      <a:r>
                        <a:rPr lang="en-IN" sz="1200">
                          <a:solidFill>
                            <a:schemeClr val="tx1"/>
                          </a:solidFill>
                        </a:rPr>
                        <a:t>20 GB free space</a:t>
                      </a:r>
                    </a:p>
                  </a:txBody>
                  <a:tcPr anchor="ctr">
                    <a:lnL>
                      <a:noFill/>
                    </a:lnL>
                    <a:lnR>
                      <a:noFill/>
                    </a:lnR>
                    <a:lnT>
                      <a:noFill/>
                    </a:lnT>
                    <a:lnB>
                      <a:noFill/>
                    </a:lnB>
                  </a:tcPr>
                </a:tc>
                <a:extLst>
                  <a:ext uri="{0D108BD9-81ED-4DB2-BD59-A6C34878D82A}">
                    <a16:rowId xmlns:a16="http://schemas.microsoft.com/office/drawing/2014/main" val="3510718649"/>
                  </a:ext>
                </a:extLst>
              </a:tr>
              <a:tr h="0">
                <a:tc>
                  <a:txBody>
                    <a:bodyPr/>
                    <a:lstStyle/>
                    <a:p>
                      <a:r>
                        <a:rPr lang="en-IN" sz="1200">
                          <a:solidFill>
                            <a:schemeClr val="tx1"/>
                          </a:solidFill>
                        </a:rPr>
                        <a:t>Display</a:t>
                      </a:r>
                    </a:p>
                  </a:txBody>
                  <a:tcPr anchor="ctr">
                    <a:lnL>
                      <a:noFill/>
                    </a:lnL>
                    <a:lnR>
                      <a:noFill/>
                    </a:lnR>
                    <a:lnT>
                      <a:noFill/>
                    </a:lnT>
                    <a:lnB>
                      <a:noFill/>
                    </a:lnB>
                  </a:tcPr>
                </a:tc>
                <a:tc>
                  <a:txBody>
                    <a:bodyPr/>
                    <a:lstStyle/>
                    <a:p>
                      <a:r>
                        <a:rPr lang="en-IN" sz="1200">
                          <a:solidFill>
                            <a:schemeClr val="tx1"/>
                          </a:solidFill>
                        </a:rPr>
                        <a:t>Standard monitor</a:t>
                      </a:r>
                      <a:endParaRPr lang="en-IN" sz="1200" dirty="0">
                        <a:solidFill>
                          <a:schemeClr val="tx1"/>
                        </a:solidFill>
                      </a:endParaRPr>
                    </a:p>
                  </a:txBody>
                  <a:tcPr anchor="ctr">
                    <a:lnL>
                      <a:noFill/>
                    </a:lnL>
                    <a:lnR>
                      <a:noFill/>
                    </a:lnR>
                    <a:lnT>
                      <a:noFill/>
                    </a:lnT>
                    <a:lnB>
                      <a:noFill/>
                    </a:lnB>
                  </a:tcPr>
                </a:tc>
                <a:extLst>
                  <a:ext uri="{0D108BD9-81ED-4DB2-BD59-A6C34878D82A}">
                    <a16:rowId xmlns:a16="http://schemas.microsoft.com/office/drawing/2014/main" val="477743927"/>
                  </a:ext>
                </a:extLst>
              </a:tr>
              <a:tr h="0">
                <a:tc>
                  <a:txBody>
                    <a:bodyPr/>
                    <a:lstStyle/>
                    <a:p>
                      <a:r>
                        <a:rPr lang="en-IN" sz="1200">
                          <a:solidFill>
                            <a:schemeClr val="tx1"/>
                          </a:solidFill>
                        </a:rPr>
                        <a:t>Keyboard &amp; Mouse</a:t>
                      </a:r>
                    </a:p>
                  </a:txBody>
                  <a:tcPr anchor="ctr">
                    <a:lnL>
                      <a:noFill/>
                    </a:lnL>
                    <a:lnR>
                      <a:noFill/>
                    </a:lnR>
                    <a:lnT>
                      <a:noFill/>
                    </a:lnT>
                    <a:lnB>
                      <a:noFill/>
                    </a:lnB>
                  </a:tcPr>
                </a:tc>
                <a:tc>
                  <a:txBody>
                    <a:bodyPr/>
                    <a:lstStyle/>
                    <a:p>
                      <a:r>
                        <a:rPr lang="en-IN" sz="1200">
                          <a:solidFill>
                            <a:schemeClr val="tx1"/>
                          </a:solidFill>
                        </a:rPr>
                        <a:t>Standard keyboard and mouse</a:t>
                      </a:r>
                      <a:endParaRPr lang="en-IN" sz="1200" dirty="0">
                        <a:solidFill>
                          <a:schemeClr val="tx1"/>
                        </a:solidFill>
                      </a:endParaRPr>
                    </a:p>
                  </a:txBody>
                  <a:tcPr anchor="ctr">
                    <a:lnL>
                      <a:noFill/>
                    </a:lnL>
                    <a:lnR>
                      <a:noFill/>
                    </a:lnR>
                    <a:lnT>
                      <a:noFill/>
                    </a:lnT>
                    <a:lnB>
                      <a:noFill/>
                    </a:lnB>
                  </a:tcPr>
                </a:tc>
                <a:extLst>
                  <a:ext uri="{0D108BD9-81ED-4DB2-BD59-A6C34878D82A}">
                    <a16:rowId xmlns:a16="http://schemas.microsoft.com/office/drawing/2014/main" val="1545086735"/>
                  </a:ext>
                </a:extLst>
              </a:tr>
              <a:tr h="0">
                <a:tc>
                  <a:txBody>
                    <a:bodyPr/>
                    <a:lstStyle/>
                    <a:p>
                      <a:r>
                        <a:rPr lang="en-IN" sz="1200">
                          <a:solidFill>
                            <a:schemeClr val="tx1"/>
                          </a:solidFill>
                        </a:rPr>
                        <a:t>Network</a:t>
                      </a:r>
                      <a:endParaRPr lang="en-IN" sz="1200" dirty="0">
                        <a:solidFill>
                          <a:schemeClr val="tx1"/>
                        </a:solidFill>
                      </a:endParaRPr>
                    </a:p>
                  </a:txBody>
                  <a:tcPr anchor="ctr">
                    <a:lnL>
                      <a:noFill/>
                    </a:lnL>
                    <a:lnR>
                      <a:noFill/>
                    </a:lnR>
                    <a:lnT>
                      <a:noFill/>
                    </a:lnT>
                    <a:lnB>
                      <a:noFill/>
                    </a:lnB>
                  </a:tcPr>
                </a:tc>
                <a:tc>
                  <a:txBody>
                    <a:bodyPr/>
                    <a:lstStyle/>
                    <a:p>
                      <a:r>
                        <a:rPr lang="en-US" sz="1200" dirty="0">
                          <a:solidFill>
                            <a:schemeClr val="tx1"/>
                          </a:solidFill>
                        </a:rPr>
                        <a:t>Optional, for software installation and updates</a:t>
                      </a:r>
                    </a:p>
                  </a:txBody>
                  <a:tcPr anchor="ctr">
                    <a:lnL>
                      <a:noFill/>
                    </a:lnL>
                    <a:lnR>
                      <a:noFill/>
                    </a:lnR>
                    <a:lnT>
                      <a:noFill/>
                    </a:lnT>
                    <a:lnB>
                      <a:noFill/>
                    </a:lnB>
                  </a:tcPr>
                </a:tc>
                <a:extLst>
                  <a:ext uri="{0D108BD9-81ED-4DB2-BD59-A6C34878D82A}">
                    <a16:rowId xmlns:a16="http://schemas.microsoft.com/office/drawing/2014/main" val="3305183766"/>
                  </a:ext>
                </a:extLst>
              </a:tr>
            </a:tbl>
          </a:graphicData>
        </a:graphic>
      </p:graphicFrame>
      <p:graphicFrame>
        <p:nvGraphicFramePr>
          <p:cNvPr id="27" name="Table 26">
            <a:extLst>
              <a:ext uri="{FF2B5EF4-FFF2-40B4-BE49-F238E27FC236}">
                <a16:creationId xmlns:a16="http://schemas.microsoft.com/office/drawing/2014/main" id="{88581C20-EC54-48E2-9049-18786F2CF509}"/>
              </a:ext>
            </a:extLst>
          </p:cNvPr>
          <p:cNvGraphicFramePr>
            <a:graphicFrameLocks noGrp="1"/>
          </p:cNvGraphicFramePr>
          <p:nvPr>
            <p:extLst>
              <p:ext uri="{D42A27DB-BD31-4B8C-83A1-F6EECF244321}">
                <p14:modId xmlns:p14="http://schemas.microsoft.com/office/powerpoint/2010/main" val="322883409"/>
              </p:ext>
            </p:extLst>
          </p:nvPr>
        </p:nvGraphicFramePr>
        <p:xfrm>
          <a:off x="6736135" y="2461895"/>
          <a:ext cx="5171984" cy="2651760"/>
        </p:xfrm>
        <a:graphic>
          <a:graphicData uri="http://schemas.openxmlformats.org/drawingml/2006/table">
            <a:tbl>
              <a:tblPr/>
              <a:tblGrid>
                <a:gridCol w="2810146">
                  <a:extLst>
                    <a:ext uri="{9D8B030D-6E8A-4147-A177-3AD203B41FA5}">
                      <a16:colId xmlns:a16="http://schemas.microsoft.com/office/drawing/2014/main" val="2551749543"/>
                    </a:ext>
                  </a:extLst>
                </a:gridCol>
                <a:gridCol w="2361838">
                  <a:extLst>
                    <a:ext uri="{9D8B030D-6E8A-4147-A177-3AD203B41FA5}">
                      <a16:colId xmlns:a16="http://schemas.microsoft.com/office/drawing/2014/main" val="2210768174"/>
                    </a:ext>
                  </a:extLst>
                </a:gridCol>
              </a:tblGrid>
              <a:tr h="213013">
                <a:tc>
                  <a:txBody>
                    <a:bodyPr/>
                    <a:lstStyle/>
                    <a:p>
                      <a:r>
                        <a:rPr lang="en-IN" sz="1200" dirty="0"/>
                        <a:t>Software</a:t>
                      </a:r>
                    </a:p>
                  </a:txBody>
                  <a:tcPr anchor="ctr">
                    <a:lnL>
                      <a:noFill/>
                    </a:lnL>
                    <a:lnR>
                      <a:noFill/>
                    </a:lnR>
                    <a:lnT>
                      <a:noFill/>
                    </a:lnT>
                    <a:lnB>
                      <a:noFill/>
                    </a:lnB>
                  </a:tcPr>
                </a:tc>
                <a:tc>
                  <a:txBody>
                    <a:bodyPr/>
                    <a:lstStyle/>
                    <a:p>
                      <a:r>
                        <a:rPr lang="en-IN" sz="1200" dirty="0"/>
                        <a:t>Requirement</a:t>
                      </a:r>
                    </a:p>
                  </a:txBody>
                  <a:tcPr anchor="ctr">
                    <a:lnL>
                      <a:noFill/>
                    </a:lnL>
                    <a:lnR>
                      <a:noFill/>
                    </a:lnR>
                    <a:lnT>
                      <a:noFill/>
                    </a:lnT>
                    <a:lnB>
                      <a:noFill/>
                    </a:lnB>
                  </a:tcPr>
                </a:tc>
                <a:extLst>
                  <a:ext uri="{0D108BD9-81ED-4DB2-BD59-A6C34878D82A}">
                    <a16:rowId xmlns:a16="http://schemas.microsoft.com/office/drawing/2014/main" val="193692109"/>
                  </a:ext>
                </a:extLst>
              </a:tr>
              <a:tr h="213013">
                <a:tc>
                  <a:txBody>
                    <a:bodyPr/>
                    <a:lstStyle/>
                    <a:p>
                      <a:r>
                        <a:rPr lang="en-IN" sz="1200" dirty="0"/>
                        <a:t>Operating System</a:t>
                      </a:r>
                    </a:p>
                  </a:txBody>
                  <a:tcPr anchor="ctr">
                    <a:lnL>
                      <a:noFill/>
                    </a:lnL>
                    <a:lnR>
                      <a:noFill/>
                    </a:lnR>
                    <a:lnT>
                      <a:noFill/>
                    </a:lnT>
                    <a:lnB>
                      <a:noFill/>
                    </a:lnB>
                  </a:tcPr>
                </a:tc>
                <a:tc>
                  <a:txBody>
                    <a:bodyPr/>
                    <a:lstStyle/>
                    <a:p>
                      <a:r>
                        <a:rPr lang="en-IN" sz="1200"/>
                        <a:t>Ubuntu/Linux</a:t>
                      </a:r>
                    </a:p>
                  </a:txBody>
                  <a:tcPr anchor="ctr">
                    <a:lnL>
                      <a:noFill/>
                    </a:lnL>
                    <a:lnR>
                      <a:noFill/>
                    </a:lnR>
                    <a:lnT>
                      <a:noFill/>
                    </a:lnT>
                    <a:lnB>
                      <a:noFill/>
                    </a:lnB>
                  </a:tcPr>
                </a:tc>
                <a:extLst>
                  <a:ext uri="{0D108BD9-81ED-4DB2-BD59-A6C34878D82A}">
                    <a16:rowId xmlns:a16="http://schemas.microsoft.com/office/drawing/2014/main" val="1684913774"/>
                  </a:ext>
                </a:extLst>
              </a:tr>
              <a:tr h="213013">
                <a:tc>
                  <a:txBody>
                    <a:bodyPr/>
                    <a:lstStyle/>
                    <a:p>
                      <a:r>
                        <a:rPr lang="en-IN" sz="1200" dirty="0"/>
                        <a:t>Programming Language</a:t>
                      </a:r>
                    </a:p>
                  </a:txBody>
                  <a:tcPr anchor="ctr">
                    <a:lnL>
                      <a:noFill/>
                    </a:lnL>
                    <a:lnR>
                      <a:noFill/>
                    </a:lnR>
                    <a:lnT>
                      <a:noFill/>
                    </a:lnT>
                    <a:lnB>
                      <a:noFill/>
                    </a:lnB>
                  </a:tcPr>
                </a:tc>
                <a:tc>
                  <a:txBody>
                    <a:bodyPr/>
                    <a:lstStyle/>
                    <a:p>
                      <a:r>
                        <a:rPr lang="en-IN" sz="1200"/>
                        <a:t>C</a:t>
                      </a:r>
                    </a:p>
                  </a:txBody>
                  <a:tcPr anchor="ctr">
                    <a:lnL>
                      <a:noFill/>
                    </a:lnL>
                    <a:lnR>
                      <a:noFill/>
                    </a:lnR>
                    <a:lnT>
                      <a:noFill/>
                    </a:lnT>
                    <a:lnB>
                      <a:noFill/>
                    </a:lnB>
                  </a:tcPr>
                </a:tc>
                <a:extLst>
                  <a:ext uri="{0D108BD9-81ED-4DB2-BD59-A6C34878D82A}">
                    <a16:rowId xmlns:a16="http://schemas.microsoft.com/office/drawing/2014/main" val="2939212907"/>
                  </a:ext>
                </a:extLst>
              </a:tr>
              <a:tr h="213013">
                <a:tc>
                  <a:txBody>
                    <a:bodyPr/>
                    <a:lstStyle/>
                    <a:p>
                      <a:r>
                        <a:rPr lang="en-IN" sz="1200" dirty="0"/>
                        <a:t>Compiler</a:t>
                      </a:r>
                    </a:p>
                  </a:txBody>
                  <a:tcPr anchor="ctr">
                    <a:lnL>
                      <a:noFill/>
                    </a:lnL>
                    <a:lnR>
                      <a:noFill/>
                    </a:lnR>
                    <a:lnT>
                      <a:noFill/>
                    </a:lnT>
                    <a:lnB>
                      <a:noFill/>
                    </a:lnB>
                  </a:tcPr>
                </a:tc>
                <a:tc>
                  <a:txBody>
                    <a:bodyPr/>
                    <a:lstStyle/>
                    <a:p>
                      <a:r>
                        <a:rPr lang="en-IN" sz="1200" dirty="0"/>
                        <a:t>GCC (GNU Compiler Collection)</a:t>
                      </a:r>
                    </a:p>
                  </a:txBody>
                  <a:tcPr anchor="ctr">
                    <a:lnL>
                      <a:noFill/>
                    </a:lnL>
                    <a:lnR>
                      <a:noFill/>
                    </a:lnR>
                    <a:lnT>
                      <a:noFill/>
                    </a:lnT>
                    <a:lnB>
                      <a:noFill/>
                    </a:lnB>
                  </a:tcPr>
                </a:tc>
                <a:extLst>
                  <a:ext uri="{0D108BD9-81ED-4DB2-BD59-A6C34878D82A}">
                    <a16:rowId xmlns:a16="http://schemas.microsoft.com/office/drawing/2014/main" val="846338043"/>
                  </a:ext>
                </a:extLst>
              </a:tr>
              <a:tr h="213013">
                <a:tc>
                  <a:txBody>
                    <a:bodyPr/>
                    <a:lstStyle/>
                    <a:p>
                      <a:r>
                        <a:rPr lang="en-IN" sz="1200" dirty="0"/>
                        <a:t>IDE/Editor</a:t>
                      </a:r>
                    </a:p>
                  </a:txBody>
                  <a:tcPr anchor="ctr">
                    <a:lnL>
                      <a:noFill/>
                    </a:lnL>
                    <a:lnR>
                      <a:noFill/>
                    </a:lnR>
                    <a:lnT>
                      <a:noFill/>
                    </a:lnT>
                    <a:lnB>
                      <a:noFill/>
                    </a:lnB>
                  </a:tcPr>
                </a:tc>
                <a:tc>
                  <a:txBody>
                    <a:bodyPr/>
                    <a:lstStyle/>
                    <a:p>
                      <a:r>
                        <a:rPr lang="en-IN" sz="1200"/>
                        <a:t>Visual Studio Code / Vim / Nano</a:t>
                      </a:r>
                    </a:p>
                  </a:txBody>
                  <a:tcPr anchor="ctr">
                    <a:lnL>
                      <a:noFill/>
                    </a:lnL>
                    <a:lnR>
                      <a:noFill/>
                    </a:lnR>
                    <a:lnT>
                      <a:noFill/>
                    </a:lnT>
                    <a:lnB>
                      <a:noFill/>
                    </a:lnB>
                  </a:tcPr>
                </a:tc>
                <a:extLst>
                  <a:ext uri="{0D108BD9-81ED-4DB2-BD59-A6C34878D82A}">
                    <a16:rowId xmlns:a16="http://schemas.microsoft.com/office/drawing/2014/main" val="367758403"/>
                  </a:ext>
                </a:extLst>
              </a:tr>
              <a:tr h="213013">
                <a:tc>
                  <a:txBody>
                    <a:bodyPr/>
                    <a:lstStyle/>
                    <a:p>
                      <a:r>
                        <a:rPr lang="en-IN" sz="1200" dirty="0"/>
                        <a:t>Terminal</a:t>
                      </a:r>
                    </a:p>
                  </a:txBody>
                  <a:tcPr anchor="ctr">
                    <a:lnL>
                      <a:noFill/>
                    </a:lnL>
                    <a:lnR>
                      <a:noFill/>
                    </a:lnR>
                    <a:lnT>
                      <a:noFill/>
                    </a:lnT>
                    <a:lnB>
                      <a:noFill/>
                    </a:lnB>
                  </a:tcPr>
                </a:tc>
                <a:tc>
                  <a:txBody>
                    <a:bodyPr/>
                    <a:lstStyle/>
                    <a:p>
                      <a:r>
                        <a:rPr lang="en-IN" sz="1200"/>
                        <a:t>Linux Terminal</a:t>
                      </a:r>
                    </a:p>
                  </a:txBody>
                  <a:tcPr anchor="ctr">
                    <a:lnL>
                      <a:noFill/>
                    </a:lnL>
                    <a:lnR>
                      <a:noFill/>
                    </a:lnR>
                    <a:lnT>
                      <a:noFill/>
                    </a:lnT>
                    <a:lnB>
                      <a:noFill/>
                    </a:lnB>
                  </a:tcPr>
                </a:tc>
                <a:extLst>
                  <a:ext uri="{0D108BD9-81ED-4DB2-BD59-A6C34878D82A}">
                    <a16:rowId xmlns:a16="http://schemas.microsoft.com/office/drawing/2014/main" val="1219588019"/>
                  </a:ext>
                </a:extLst>
              </a:tr>
              <a:tr h="213013">
                <a:tc>
                  <a:txBody>
                    <a:bodyPr/>
                    <a:lstStyle/>
                    <a:p>
                      <a:r>
                        <a:rPr lang="en-IN" sz="1200"/>
                        <a:t>System Interface</a:t>
                      </a:r>
                    </a:p>
                  </a:txBody>
                  <a:tcPr anchor="ctr">
                    <a:lnL>
                      <a:noFill/>
                    </a:lnL>
                    <a:lnR>
                      <a:noFill/>
                    </a:lnR>
                    <a:lnT>
                      <a:noFill/>
                    </a:lnT>
                    <a:lnB>
                      <a:noFill/>
                    </a:lnB>
                  </a:tcPr>
                </a:tc>
                <a:tc>
                  <a:txBody>
                    <a:bodyPr/>
                    <a:lstStyle/>
                    <a:p>
                      <a:r>
                        <a:rPr lang="en-IN" sz="1200"/>
                        <a:t>/proc filesystem</a:t>
                      </a:r>
                    </a:p>
                  </a:txBody>
                  <a:tcPr anchor="ctr">
                    <a:lnL>
                      <a:noFill/>
                    </a:lnL>
                    <a:lnR>
                      <a:noFill/>
                    </a:lnR>
                    <a:lnT>
                      <a:noFill/>
                    </a:lnT>
                    <a:lnB>
                      <a:noFill/>
                    </a:lnB>
                  </a:tcPr>
                </a:tc>
                <a:extLst>
                  <a:ext uri="{0D108BD9-81ED-4DB2-BD59-A6C34878D82A}">
                    <a16:rowId xmlns:a16="http://schemas.microsoft.com/office/drawing/2014/main" val="3633992474"/>
                  </a:ext>
                </a:extLst>
              </a:tr>
              <a:tr h="334735">
                <a:tc>
                  <a:txBody>
                    <a:bodyPr/>
                    <a:lstStyle/>
                    <a:p>
                      <a:r>
                        <a:rPr lang="en-IN" sz="1200"/>
                        <a:t>Libraries</a:t>
                      </a:r>
                    </a:p>
                  </a:txBody>
                  <a:tcPr anchor="ctr">
                    <a:lnL>
                      <a:noFill/>
                    </a:lnL>
                    <a:lnR>
                      <a:noFill/>
                    </a:lnR>
                    <a:lnT>
                      <a:noFill/>
                    </a:lnT>
                    <a:lnB>
                      <a:noFill/>
                    </a:lnB>
                  </a:tcPr>
                </a:tc>
                <a:tc>
                  <a:txBody>
                    <a:bodyPr/>
                    <a:lstStyle/>
                    <a:p>
                      <a:r>
                        <a:rPr lang="en-US" sz="1200"/>
                        <a:t>Standard C Library, POSIX/Linux system libraries</a:t>
                      </a:r>
                    </a:p>
                  </a:txBody>
                  <a:tcPr anchor="ctr">
                    <a:lnL>
                      <a:noFill/>
                    </a:lnL>
                    <a:lnR>
                      <a:noFill/>
                    </a:lnR>
                    <a:lnT>
                      <a:noFill/>
                    </a:lnT>
                    <a:lnB>
                      <a:noFill/>
                    </a:lnB>
                  </a:tcPr>
                </a:tc>
                <a:extLst>
                  <a:ext uri="{0D108BD9-81ED-4DB2-BD59-A6C34878D82A}">
                    <a16:rowId xmlns:a16="http://schemas.microsoft.com/office/drawing/2014/main" val="1330918687"/>
                  </a:ext>
                </a:extLst>
              </a:tr>
              <a:tr h="213013">
                <a:tc>
                  <a:txBody>
                    <a:bodyPr/>
                    <a:lstStyle/>
                    <a:p>
                      <a:r>
                        <a:rPr lang="en-IN" sz="1200"/>
                        <a:t>Version Control</a:t>
                      </a:r>
                    </a:p>
                  </a:txBody>
                  <a:tcPr anchor="ctr">
                    <a:lnL>
                      <a:noFill/>
                    </a:lnL>
                    <a:lnR>
                      <a:noFill/>
                    </a:lnR>
                    <a:lnT>
                      <a:noFill/>
                    </a:lnT>
                    <a:lnB>
                      <a:noFill/>
                    </a:lnB>
                  </a:tcPr>
                </a:tc>
                <a:tc>
                  <a:txBody>
                    <a:bodyPr/>
                    <a:lstStyle/>
                    <a:p>
                      <a:r>
                        <a:rPr lang="en-IN" sz="1200" dirty="0"/>
                        <a:t>Git/GitHub (optional)</a:t>
                      </a:r>
                    </a:p>
                  </a:txBody>
                  <a:tcPr anchor="ctr">
                    <a:lnL>
                      <a:noFill/>
                    </a:lnL>
                    <a:lnR>
                      <a:noFill/>
                    </a:lnR>
                    <a:lnT>
                      <a:noFill/>
                    </a:lnT>
                    <a:lnB>
                      <a:noFill/>
                    </a:lnB>
                  </a:tcPr>
                </a:tc>
                <a:extLst>
                  <a:ext uri="{0D108BD9-81ED-4DB2-BD59-A6C34878D82A}">
                    <a16:rowId xmlns:a16="http://schemas.microsoft.com/office/drawing/2014/main" val="175417658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266892"/>
            <a:ext cx="6871855" cy="52197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 System Architecture</a:t>
            </a:r>
            <a:endParaRPr lang="en-US" sz="2800" b="1" dirty="0">
              <a:solidFill>
                <a:schemeClr val="bg1"/>
              </a:solidFill>
            </a:endParaRPr>
          </a:p>
        </p:txBody>
      </p:sp>
      <p:sp>
        <p:nvSpPr>
          <p:cNvPr id="5" name="Date Placeholder 4">
            <a:extLst>
              <a:ext uri="{FF2B5EF4-FFF2-40B4-BE49-F238E27FC236}">
                <a16:creationId xmlns:a16="http://schemas.microsoft.com/office/drawing/2014/main" id="{57C0467B-10ED-0439-355C-AB546904D26E}"/>
              </a:ext>
            </a:extLst>
          </p:cNvPr>
          <p:cNvSpPr>
            <a:spLocks noGrp="1"/>
          </p:cNvSpPr>
          <p:nvPr>
            <p:ph type="dt" sz="half" idx="10"/>
          </p:nvPr>
        </p:nvSpPr>
        <p:spPr/>
        <p:txBody>
          <a:bodyPr/>
          <a:lstStyle/>
          <a:p>
            <a:fld id="{90F60B09-1F77-4EDB-8151-1F057DCF6ADD}" type="datetime1">
              <a:rPr lang="en-US" smtClean="0"/>
              <a:t>9/19/2026</a:t>
            </a:fld>
            <a:endParaRPr lang="en-US"/>
          </a:p>
        </p:txBody>
      </p:sp>
      <p:sp>
        <p:nvSpPr>
          <p:cNvPr id="6" name="Slide Number Placeholder 5">
            <a:extLst>
              <a:ext uri="{FF2B5EF4-FFF2-40B4-BE49-F238E27FC236}">
                <a16:creationId xmlns:a16="http://schemas.microsoft.com/office/drawing/2014/main" id="{B94128EC-BFB0-E687-111E-633D5D579C93}"/>
              </a:ext>
            </a:extLst>
          </p:cNvPr>
          <p:cNvSpPr>
            <a:spLocks noGrp="1"/>
          </p:cNvSpPr>
          <p:nvPr>
            <p:ph type="sldNum" sz="quarter" idx="12"/>
          </p:nvPr>
        </p:nvSpPr>
        <p:spPr/>
        <p:txBody>
          <a:bodyPr/>
          <a:lstStyle/>
          <a:p>
            <a:fld id="{7EED5C5B-9EF4-44F9-8A5E-F9CA765F3D63}" type="slidenum">
              <a:rPr lang="en-US" smtClean="0"/>
              <a:t>6</a:t>
            </a:fld>
            <a:endParaRPr lang="en-US"/>
          </a:p>
        </p:txBody>
      </p:sp>
      <p:pic>
        <p:nvPicPr>
          <p:cNvPr id="7" name="Picture 6">
            <a:extLst>
              <a:ext uri="{FF2B5EF4-FFF2-40B4-BE49-F238E27FC236}">
                <a16:creationId xmlns:a16="http://schemas.microsoft.com/office/drawing/2014/main" id="{4756B7C9-EE41-4DD4-8F6B-64822A665DEA}"/>
              </a:ext>
            </a:extLst>
          </p:cNvPr>
          <p:cNvPicPr>
            <a:picLocks noChangeAspect="1"/>
          </p:cNvPicPr>
          <p:nvPr/>
        </p:nvPicPr>
        <p:blipFill>
          <a:blip r:embed="rId2"/>
          <a:stretch>
            <a:fillRect/>
          </a:stretch>
        </p:blipFill>
        <p:spPr>
          <a:xfrm>
            <a:off x="2920754" y="1155052"/>
            <a:ext cx="8309499" cy="48347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
        <p:nvSpPr>
          <p:cNvPr id="2" name="Date Placeholder 1">
            <a:extLst>
              <a:ext uri="{FF2B5EF4-FFF2-40B4-BE49-F238E27FC236}">
                <a16:creationId xmlns:a16="http://schemas.microsoft.com/office/drawing/2014/main" id="{9D864234-7A34-7521-498A-DD3F6E491DB4}"/>
              </a:ext>
            </a:extLst>
          </p:cNvPr>
          <p:cNvSpPr>
            <a:spLocks noGrp="1"/>
          </p:cNvSpPr>
          <p:nvPr>
            <p:ph type="dt" sz="half" idx="10"/>
          </p:nvPr>
        </p:nvSpPr>
        <p:spPr/>
        <p:txBody>
          <a:bodyPr/>
          <a:lstStyle/>
          <a:p>
            <a:fld id="{76602186-ABE7-42AB-8003-2FA9F73CA34D}" type="datetime1">
              <a:rPr lang="en-US" smtClean="0"/>
              <a:t>9/19/2026</a:t>
            </a:fld>
            <a:endParaRPr lang="en-US"/>
          </a:p>
        </p:txBody>
      </p:sp>
      <p:sp>
        <p:nvSpPr>
          <p:cNvPr id="4" name="Slide Number Placeholder 3">
            <a:extLst>
              <a:ext uri="{FF2B5EF4-FFF2-40B4-BE49-F238E27FC236}">
                <a16:creationId xmlns:a16="http://schemas.microsoft.com/office/drawing/2014/main" id="{9A89A4F7-9EC8-2129-C8BB-C74E5E40CE1A}"/>
              </a:ext>
            </a:extLst>
          </p:cNvPr>
          <p:cNvSpPr>
            <a:spLocks noGrp="1"/>
          </p:cNvSpPr>
          <p:nvPr>
            <p:ph type="sldNum" sz="quarter" idx="12"/>
          </p:nvPr>
        </p:nvSpPr>
        <p:spPr/>
        <p:txBody>
          <a:bodyPr/>
          <a:lstStyle/>
          <a:p>
            <a:fld id="{7EED5C5B-9EF4-44F9-8A5E-F9CA765F3D63}" type="slidenum">
              <a:rPr lang="en-US" smtClean="0"/>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603</Words>
  <Application>Microsoft Office PowerPoint</Application>
  <PresentationFormat>Widescreen</PresentationFormat>
  <Paragraphs>74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Arial Unicode MS</vt:lpstr>
      <vt:lpstr>Calibri</vt:lpstr>
      <vt:lpstr>Times New Roman</vt:lpstr>
      <vt:lpstr>Office Theme</vt:lpstr>
      <vt:lpstr>       Operating system and system programming (25CS2104E)  Kernel Monitor</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K.CHAITANYA RAM</cp:lastModifiedBy>
  <cp:revision>26</cp:revision>
  <dcterms:created xsi:type="dcterms:W3CDTF">2026-08-31T05:18:20Z</dcterms:created>
  <dcterms:modified xsi:type="dcterms:W3CDTF">2026-09-19T08:40:07Z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2E321512259BCFD0FA0C956AC94F79BD_43</vt:lpwstr>
  </property>
  <property fmtid="{D5CDD505-2E9C-101B-9397-08002B2CF9AE}" pid="3" name="KSOProductBuildVer">
    <vt:lpwstr>1033-12.1.26050.26050</vt:lpwstr>
  </property>
</Properties>
</file>